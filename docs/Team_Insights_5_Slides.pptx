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Why we're building this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79"/>
              <a:buFont typeface="Calibri"/>
              <a:buNone/>
            </a:pPr>
            <a:r>
              <a:rPr b="1" i="0" lang="en-US" sz="168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MISSION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176272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80"/>
              <a:buFont typeface="Cambria"/>
              <a:buNone/>
            </a:pPr>
            <a:r>
              <a:rPr b="0" i="0" lang="en-US" sz="238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Helps teams think together — capturing what's said, confirming understanding, and connecting the right people.</a:t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3703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79"/>
              <a:buFont typeface="Calibri"/>
              <a:buNone/>
            </a:pPr>
            <a:r>
              <a:rPr b="1" i="0" lang="en-US" sz="168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406908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60"/>
              <a:buFont typeface="Calibri"/>
              <a:buNone/>
            </a:pPr>
            <a:r>
              <a:rPr b="0" i="0" lang="en-US" sz="196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dysfunction stays invisible until it's already cost you something. We surface it early.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521208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1679"/>
              <a:buFont typeface="Calibri"/>
              <a:buNone/>
            </a:pPr>
            <a:r>
              <a:rPr b="0" i="1" lang="en-US" sz="168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Built on Lencioni's Five Dysfunctions and Or</a:t>
            </a:r>
            <a:r>
              <a:rPr i="1" lang="en-US" sz="1680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ganizational Behavior Management (</a:t>
            </a:r>
            <a:r>
              <a:rPr b="0" i="1" lang="en-US" sz="168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OBM) </a:t>
            </a:r>
            <a:r>
              <a:rPr i="1" lang="en-US" sz="1680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Academic Literature </a:t>
            </a:r>
            <a:r>
              <a:rPr b="0" i="1" lang="en-US" sz="168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— fix trust first, or every layer above it regresses.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Why we're building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75" y="1798325"/>
            <a:ext cx="6370326" cy="3678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274320"/>
            <a:ext cx="6538033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80"/>
              <a:buFont typeface="Cambria"/>
              <a:buNone/>
            </a:pPr>
            <a:r>
              <a:rPr b="1" i="0" lang="en-US" sz="448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What the software does</a:t>
            </a:r>
            <a:endParaRPr b="0" i="0" sz="4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20"/>
              <a:buFont typeface="Calibri"/>
              <a:buNone/>
            </a:pPr>
            <a:r>
              <a:rPr b="1" i="0" lang="en-US" sz="182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 THE MEETING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97280" y="19659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Comes loaded with your company/community and project context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97280" y="30175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Suggests topics to each person based on their actual work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97280" y="406908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Brings in the right expert, by name, at the right moment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20"/>
              <a:buFont typeface="Calibri"/>
              <a:buNone/>
            </a:pPr>
            <a:r>
              <a:rPr b="1" i="0" lang="en-US" sz="182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AFTER THE MEETING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0080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949440" y="19659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behavioral report for each participant, across five dimensions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949440" y="30175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score backed by concrete signals, not vague impressions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949440" y="406908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session builds on the last into a shared reference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989320" y="1280160"/>
            <a:ext cx="5669280" cy="4023360"/>
          </a:xfrm>
          <a:prstGeom prst="roundRect">
            <a:avLst>
              <a:gd fmla="val 2727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20"/>
              <a:buFont typeface="Calibri"/>
              <a:buNone/>
            </a:pPr>
            <a:r>
              <a:rPr b="1" i="0" lang="en-US" sz="182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AFTER THE MEETING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40080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49440" y="19659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behavioral report for each participant, across five dimensions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400800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49440" y="30175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score backed by concrete signals, not vague impressions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0080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49440" y="406908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90"/>
              <a:buFont typeface="Calibri"/>
              <a:buNone/>
            </a:pPr>
            <a:r>
              <a:rPr b="0" i="0" lang="en-US" sz="18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session builds on the last into a shared reference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the software does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Claude as a team member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60"/>
              <a:buFont typeface="Calibri"/>
              <a:buNone/>
            </a:pPr>
            <a:r>
              <a:rPr b="0" i="1" lang="en-US" sz="196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AI in the room changes the room, even when silent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8640" y="164592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463040" y="1901952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70"/>
              <a:buFont typeface="Cambria"/>
              <a:buNone/>
            </a:pPr>
            <a:r>
              <a:rPr b="1" i="0" lang="en-US" sz="217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What people say</a:t>
            </a:r>
            <a:endParaRPr b="0" i="0" sz="2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463040" y="2331720"/>
            <a:ext cx="4069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b="0" i="0" lang="en-US" sz="17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Being captured sharpens how people phrase things. It can also make candor harder.</a:t>
            </a:r>
            <a:endParaRPr b="0" i="0" sz="1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63640" y="164592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583680" y="193852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58368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178040" y="1901952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70"/>
              <a:buFont typeface="Cambria"/>
              <a:buNone/>
            </a:pPr>
            <a:r>
              <a:rPr b="1" i="0" lang="en-US" sz="217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Who gets heard</a:t>
            </a:r>
            <a:endParaRPr b="0" i="0" sz="2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178040" y="2331720"/>
            <a:ext cx="4069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b="0" i="0" lang="en-US" sz="17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Calling on a quiet person by name shifts the floor away from the loudest voice.</a:t>
            </a:r>
            <a:endParaRPr b="0" i="0" sz="1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640" y="384048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68680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68680" y="4133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463040" y="4096512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70"/>
              <a:buFont typeface="Cambria"/>
              <a:buNone/>
            </a:pPr>
            <a:r>
              <a:rPr b="1" i="0" lang="en-US" sz="217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What counts as a mistake</a:t>
            </a:r>
            <a:endParaRPr b="0" i="0" sz="2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463040" y="4526280"/>
            <a:ext cx="4069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b="0" i="0" lang="en-US" sz="17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Treating gaps as signal rather than failure lowers the cost of admitting one.</a:t>
            </a:r>
            <a:endParaRPr b="0" i="0" sz="1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fmla="val 5854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583680" y="41330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583680" y="4133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178040" y="4096512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70"/>
              <a:buFont typeface="Cambria"/>
              <a:buNone/>
            </a:pPr>
            <a:r>
              <a:rPr b="1" i="0" lang="en-US" sz="217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Who does the thinking</a:t>
            </a:r>
            <a:endParaRPr b="0" i="0" sz="2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178040" y="4526280"/>
            <a:ext cx="4069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b="0" i="0" lang="en-US" sz="17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Deferring to a confident answer erodes team judgment. Prompt, never conclude.</a:t>
            </a:r>
            <a:endParaRPr b="0" i="0" sz="1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2029"/>
              <a:buFont typeface="Cambria"/>
              <a:buNone/>
            </a:pPr>
            <a:r>
              <a:rPr b="0" i="1" lang="en-US" sz="2030" u="none" cap="none" strike="noStrike">
                <a:solidFill>
                  <a:srgbClr val="015865"/>
                </a:solidFill>
                <a:latin typeface="Cambria"/>
                <a:ea typeface="Cambria"/>
                <a:cs typeface="Cambria"/>
                <a:sym typeface="Cambria"/>
              </a:rPr>
              <a:t>Presence is never neutral. The question is which dynamics it strengthens.</a:t>
            </a:r>
            <a:endParaRPr b="0" i="0" sz="2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Claude as a team member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Two clocks, two kinds of insight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60"/>
              <a:buFont typeface="Calibri"/>
              <a:buNone/>
            </a:pPr>
            <a:r>
              <a:rPr b="0" i="1" lang="en-US" sz="196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Neither works alone. The value is running both.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1627632"/>
            <a:ext cx="5257800" cy="4160520"/>
          </a:xfrm>
          <a:prstGeom prst="roundRect">
            <a:avLst>
              <a:gd fmla="val 2637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914400" y="1947672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70"/>
              <a:buFont typeface="Calibri"/>
              <a:buNone/>
            </a:pPr>
            <a:r>
              <a:rPr b="1" i="0" lang="en-US" sz="147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 THE MOMENT</a:t>
            </a:r>
            <a:endParaRPr b="0" i="0" sz="1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14400" y="226771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60"/>
              <a:buFont typeface="Cambria"/>
              <a:buNone/>
            </a:pPr>
            <a:r>
              <a:rPr b="1" i="0" lang="en-US" sz="266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Actionable, but shallow</a:t>
            </a:r>
            <a:endParaRPr b="0" i="0" sz="26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14400" y="2724912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50"/>
              <a:buFont typeface="Calibri"/>
              <a:buNone/>
            </a:pPr>
            <a:r>
              <a:rPr b="0" i="1" lang="en-US" sz="1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Real-time signal - Feedback </a:t>
            </a:r>
            <a:r>
              <a:rPr i="1" lang="en-US" sz="1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oops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60120" y="3337560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234440" y="31821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Catches things while they can still be changed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60120" y="4251960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234440" y="40965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Narrow window — one meeting, limited context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60120" y="5166360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234440" y="50109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Can't tell a one-off from a pattern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355080" y="1627632"/>
            <a:ext cx="5257800" cy="4160520"/>
          </a:xfrm>
          <a:prstGeom prst="roundRect">
            <a:avLst>
              <a:gd fmla="val 263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t/>
            </a:r>
            <a:endParaRPr sz="16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720840" y="1947672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70"/>
              <a:buFont typeface="Calibri"/>
              <a:buNone/>
            </a:pPr>
            <a:r>
              <a:rPr b="1" i="0" lang="en-US" sz="147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ACROSS SESSIONS</a:t>
            </a:r>
            <a:endParaRPr b="0" i="0" sz="1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720840" y="226771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60"/>
              <a:buFont typeface="Cambria"/>
              <a:buNone/>
            </a:pPr>
            <a:r>
              <a:rPr b="1" i="0" lang="en-US" sz="266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Nuanced, but retrospective</a:t>
            </a:r>
            <a:endParaRPr b="0" i="0" sz="26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720840" y="2724912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50"/>
              <a:buFont typeface="Calibri"/>
              <a:buNone/>
            </a:pPr>
            <a:r>
              <a:rPr b="0" i="1" lang="en-US" sz="1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Longitudinal insight - After</a:t>
            </a:r>
            <a:r>
              <a:rPr i="1" lang="en-US" sz="1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-a</a:t>
            </a:r>
            <a:r>
              <a:rPr b="0" i="1" lang="en-US" sz="1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ction </a:t>
            </a:r>
            <a:r>
              <a:rPr i="1" lang="en-US" sz="1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1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eport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66560" y="3337560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040880" y="31821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Sees patterns across meetings and people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766560" y="4251960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040880" y="40965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Flags potentially bad days from real, long-term dynamics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766560" y="5166360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040880" y="5010912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79"/>
              <a:buFont typeface="Calibri"/>
              <a:buNone/>
            </a:pPr>
            <a:r>
              <a:rPr lang="en-US" sz="178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Arrives too late to change this meeting; changes the next</a:t>
            </a:r>
            <a:endParaRPr sz="178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015865"/>
                </a:solidFill>
                <a:latin typeface="Cambria"/>
                <a:ea typeface="Cambria"/>
                <a:cs typeface="Cambria"/>
                <a:sym typeface="Cambria"/>
              </a:rPr>
              <a:t>Real time says act now. Over time says what the acting is for.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 time vs. over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Where this helps most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60"/>
              <a:buFont typeface="Calibri"/>
              <a:buNone/>
            </a:pPr>
            <a:r>
              <a:rPr b="0" i="1" lang="en-US" sz="196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same loop, three different rooms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fmla="val 3038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103120" y="171907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10312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31520" y="2176272"/>
            <a:ext cx="3246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29"/>
              <a:buFont typeface="Cambria"/>
              <a:buNone/>
            </a:pPr>
            <a:r>
              <a:rPr b="1" i="0" lang="en-US" sz="203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Rural classrooms</a:t>
            </a:r>
            <a:endParaRPr b="0" i="0" sz="2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22960" y="294436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22960" y="327355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IT SEES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04672" y="354787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lost student stops asking questions. Nobody wants to look uninformed.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171700" y="45902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960"/>
              <a:buFont typeface="Calibri"/>
              <a:buNone/>
            </a:pPr>
            <a:r>
              <a:rPr b="1" i="0" lang="en-US" sz="196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2960" y="488289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04672" y="5157216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Prompts a peer to help rather than correct.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43400" y="1463040"/>
            <a:ext cx="3611880" cy="4663440"/>
          </a:xfrm>
          <a:prstGeom prst="roundRect">
            <a:avLst>
              <a:gd fmla="val 3038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897880" y="171907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89788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26280" y="2176272"/>
            <a:ext cx="3246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29"/>
              <a:buFont typeface="Cambria"/>
              <a:buNone/>
            </a:pPr>
            <a:r>
              <a:rPr b="1" lang="en-US" sz="203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1" i="0" lang="en-US" sz="203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nowledge-sharing</a:t>
            </a:r>
            <a:endParaRPr b="0" i="0" sz="2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617720" y="294436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CONFLICT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17720" y="327355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IT SEES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99432" y="354787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contentious point surfaces, then the group quietly moves past it.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966460" y="45902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960"/>
              <a:buFont typeface="Calibri"/>
              <a:buNone/>
            </a:pPr>
            <a:r>
              <a:rPr b="1" i="0" lang="en-US" sz="196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617720" y="488289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99432" y="5157216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Asks for the case against, drawing in the knowledge-holder.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138160" y="1463040"/>
            <a:ext cx="3611880" cy="4663440"/>
          </a:xfrm>
          <a:prstGeom prst="roundRect">
            <a:avLst>
              <a:gd fmla="val 3038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9692640" y="1719072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969264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321040" y="2176272"/>
            <a:ext cx="3246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29"/>
              <a:buFont typeface="Cambria"/>
              <a:buNone/>
            </a:pPr>
            <a:r>
              <a:rPr b="1" i="0" lang="en-US" sz="203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A new hire's first meeting</a:t>
            </a:r>
            <a:endParaRPr b="0" i="0" sz="2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412480" y="294436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865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15865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412480" y="327355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IT SEES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394192" y="354787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new hire sits through the meeting without being </a:t>
            </a:r>
            <a:r>
              <a:rPr lang="en-US" sz="154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included</a:t>
            </a: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761220" y="45902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960"/>
              <a:buFont typeface="Calibri"/>
              <a:buNone/>
            </a:pPr>
            <a:r>
              <a:rPr b="1" i="0" lang="en-US" sz="196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412480" y="488289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30"/>
              <a:buFont typeface="Calibri"/>
              <a:buNone/>
            </a:pPr>
            <a:r>
              <a:rPr b="1" i="0" lang="en-US" sz="133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394192" y="5157216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Nudges a teammate to orient them, by name, right now.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Signals drawn from a 120-entry behavior taxonomy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